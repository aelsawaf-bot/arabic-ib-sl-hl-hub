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1" r:id="rId8"/>
    <p:sldId id="264" r:id="rId9"/>
    <p:sldId id="266" r:id="rId10"/>
    <p:sldId id="265" r:id="rId11"/>
    <p:sldId id="267" r:id="rId12"/>
    <p:sldId id="263" r:id="rId13"/>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p:restoredTop sz="94581"/>
  </p:normalViewPr>
  <p:slideViewPr>
    <p:cSldViewPr snapToGrid="0">
      <p:cViewPr varScale="1">
        <p:scale>
          <a:sx n="99" d="100"/>
          <a:sy n="99" d="100"/>
        </p:scale>
        <p:origin x="92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FFE73-172B-574B-789C-59AB3E7511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29F8E41A-9824-B53C-37E7-6286202B9B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722459BF-4782-CBDB-EDBF-0A20D4110485}"/>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5" name="Footer Placeholder 4">
            <a:extLst>
              <a:ext uri="{FF2B5EF4-FFF2-40B4-BE49-F238E27FC236}">
                <a16:creationId xmlns:a16="http://schemas.microsoft.com/office/drawing/2014/main" id="{AF57C0D6-9FD0-AA13-11D0-88BD38EEEFF1}"/>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1D7BCE33-6477-4A3C-6AC4-77883120774E}"/>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296011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909B-50A0-E42B-B5A5-A74F50D90368}"/>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F9AEF85B-E5CC-41A9-0F01-45BB68C67B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91C9CB0-6AB1-33BB-8B22-0EA245DAAC63}"/>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5" name="Footer Placeholder 4">
            <a:extLst>
              <a:ext uri="{FF2B5EF4-FFF2-40B4-BE49-F238E27FC236}">
                <a16:creationId xmlns:a16="http://schemas.microsoft.com/office/drawing/2014/main" id="{4F48E4B2-1CE1-F921-2FB2-592069ADBBFD}"/>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90FFC192-1CFF-F5D3-29E0-A426AB928641}"/>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4087934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4D8FC-CC0B-3983-132D-6295B9893B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42627D69-C473-FA71-D953-07C58E5AD1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5062FC-9572-8C95-999B-3D5B868078E3}"/>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5" name="Footer Placeholder 4">
            <a:extLst>
              <a:ext uri="{FF2B5EF4-FFF2-40B4-BE49-F238E27FC236}">
                <a16:creationId xmlns:a16="http://schemas.microsoft.com/office/drawing/2014/main" id="{39ED2F7D-84CF-6508-3D8E-4F11C936E7E3}"/>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1BB0B728-597F-21AA-361E-1F37E1923A27}"/>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1732672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853AD-166A-35F9-8D37-51C924AAE7E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553FC393-E87F-E4D4-568C-02BA599FB3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B7648C3E-5860-16B6-3269-414398987C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359DC291-FF77-D44D-CA0F-814043C5C4DF}"/>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6" name="Footer Placeholder 5">
            <a:extLst>
              <a:ext uri="{FF2B5EF4-FFF2-40B4-BE49-F238E27FC236}">
                <a16:creationId xmlns:a16="http://schemas.microsoft.com/office/drawing/2014/main" id="{70861E01-DFCD-40CF-0748-3FEB377B21C6}"/>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BBAE5C0E-0895-9BEF-907F-7AB15196D0F7}"/>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1390721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4A060-663E-CA79-8AB6-FC716C6FA144}"/>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9154DDB2-BB07-444B-F2BD-3B2B1EC816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3EEF3B-CE87-53FD-A647-35C25E3CFA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58DA56B9-EFB5-5845-1EB6-CD38B7DBF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7D0C62-5090-3BBF-27B2-745B8D777B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14C2B28B-DF7B-E54E-D6A6-47D91BBF22B8}"/>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8" name="Footer Placeholder 7">
            <a:extLst>
              <a:ext uri="{FF2B5EF4-FFF2-40B4-BE49-F238E27FC236}">
                <a16:creationId xmlns:a16="http://schemas.microsoft.com/office/drawing/2014/main" id="{DB3E51CC-FBDA-A190-3E7F-63A6B3432961}"/>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202A2ECA-DEBA-E7D1-BEFD-4DE79FEEBD0C}"/>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278737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C3987-0BD4-18DC-0510-56B416C01AFC}"/>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F5556F9A-8F3F-A794-C889-99971A8AFA2D}"/>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4" name="Footer Placeholder 3">
            <a:extLst>
              <a:ext uri="{FF2B5EF4-FFF2-40B4-BE49-F238E27FC236}">
                <a16:creationId xmlns:a16="http://schemas.microsoft.com/office/drawing/2014/main" id="{B122A8B8-1F1A-DD90-993E-5BD52E20A26E}"/>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763C53D8-FDB3-2F6F-411C-C46712A114AE}"/>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599703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E7EEF5-BE08-4CBC-8E68-BE3910BB55D4}"/>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3" name="Footer Placeholder 2">
            <a:extLst>
              <a:ext uri="{FF2B5EF4-FFF2-40B4-BE49-F238E27FC236}">
                <a16:creationId xmlns:a16="http://schemas.microsoft.com/office/drawing/2014/main" id="{3D78A45C-E9E7-4407-B16C-936051B466B7}"/>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F842E8DB-B5DA-4B5F-7FEC-74B9E55A6BF8}"/>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931185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0277E-0FA3-98EB-2037-D3A3A1328D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053012AB-2E8B-230E-1743-C5B75EC441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E0FF9D02-0F34-DAD2-7550-16B5A2056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3A92A0-AA65-DD4C-8D3F-269B7D12D100}"/>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6" name="Footer Placeholder 5">
            <a:extLst>
              <a:ext uri="{FF2B5EF4-FFF2-40B4-BE49-F238E27FC236}">
                <a16:creationId xmlns:a16="http://schemas.microsoft.com/office/drawing/2014/main" id="{3289AE5F-BD9D-5955-5814-952FA8765725}"/>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0602A941-2DEE-0711-6843-0478A36C99E7}"/>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686720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B1C72-0894-56E6-D7DC-60E34798C4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CEF08CCC-F913-6CC2-56B0-D992CC6F57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E3D70439-657D-9634-E0CE-8A6CFB0AF6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B79C90-8B37-0EB3-8698-7DDA093255DD}"/>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6" name="Footer Placeholder 5">
            <a:extLst>
              <a:ext uri="{FF2B5EF4-FFF2-40B4-BE49-F238E27FC236}">
                <a16:creationId xmlns:a16="http://schemas.microsoft.com/office/drawing/2014/main" id="{DE83D5E6-138A-73D1-F89E-623BEA46ECEC}"/>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6722B091-6CF7-7BF7-FB09-0C3F16DFA3D9}"/>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323293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B4EF9-B520-77B6-A098-1954D221BDBF}"/>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9D2B6954-E86C-FD4C-1B97-E71AFF849D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E1F71EC0-CDEA-3B51-5EBE-2517391A75E0}"/>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5" name="Footer Placeholder 4">
            <a:extLst>
              <a:ext uri="{FF2B5EF4-FFF2-40B4-BE49-F238E27FC236}">
                <a16:creationId xmlns:a16="http://schemas.microsoft.com/office/drawing/2014/main" id="{9A4C1AD6-C440-93F1-1F97-4E88ABFD58F5}"/>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3D622C16-297A-E6B4-C792-AB06E3376BF0}"/>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2212147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F67A2F-61D4-A87C-7BB3-9149995E95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0F283F73-BDEB-67E3-5A90-CFD9202103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3D16FB99-D298-275B-3707-5B747F429D24}"/>
              </a:ext>
            </a:extLst>
          </p:cNvPr>
          <p:cNvSpPr>
            <a:spLocks noGrp="1"/>
          </p:cNvSpPr>
          <p:nvPr>
            <p:ph type="dt" sz="half" idx="10"/>
          </p:nvPr>
        </p:nvSpPr>
        <p:spPr/>
        <p:txBody>
          <a:bodyPr/>
          <a:lstStyle/>
          <a:p>
            <a:fld id="{F0F9CDD3-1F8D-6048-9A5A-1EC206D22851}" type="datetimeFigureOut">
              <a:rPr lang="en-AE" smtClean="0"/>
              <a:t>14/09/2026</a:t>
            </a:fld>
            <a:endParaRPr lang="en-AE"/>
          </a:p>
        </p:txBody>
      </p:sp>
      <p:sp>
        <p:nvSpPr>
          <p:cNvPr id="5" name="Footer Placeholder 4">
            <a:extLst>
              <a:ext uri="{FF2B5EF4-FFF2-40B4-BE49-F238E27FC236}">
                <a16:creationId xmlns:a16="http://schemas.microsoft.com/office/drawing/2014/main" id="{F2A7A185-8FE2-3B76-F2E1-4BFCD6CA4DD2}"/>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CD3F250A-EC15-AB0D-5647-681C7916F1F9}"/>
              </a:ext>
            </a:extLst>
          </p:cNvPr>
          <p:cNvSpPr>
            <a:spLocks noGrp="1"/>
          </p:cNvSpPr>
          <p:nvPr>
            <p:ph type="sldNum" sz="quarter" idx="12"/>
          </p:nvPr>
        </p:nvSpPr>
        <p:spPr/>
        <p:txBody>
          <a:bodyPr/>
          <a:lstStyle/>
          <a:p>
            <a:fld id="{73030ACD-B58E-6447-A702-14FC5100BCC4}" type="slidenum">
              <a:rPr lang="en-AE" smtClean="0"/>
              <a:t>‹#›</a:t>
            </a:fld>
            <a:endParaRPr lang="en-AE"/>
          </a:p>
        </p:txBody>
      </p:sp>
    </p:spTree>
    <p:extLst>
      <p:ext uri="{BB962C8B-B14F-4D97-AF65-F5344CB8AC3E}">
        <p14:creationId xmlns:p14="http://schemas.microsoft.com/office/powerpoint/2010/main" val="2772634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632557-3297-2E20-5E80-15143CDE62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E97E7B86-AF74-42A9-630C-874819B33F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6B721B8B-241F-7293-A75F-8CB697A03B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F9CDD3-1F8D-6048-9A5A-1EC206D22851}" type="datetimeFigureOut">
              <a:rPr lang="en-AE" smtClean="0"/>
              <a:t>14/09/2026</a:t>
            </a:fld>
            <a:endParaRPr lang="en-AE"/>
          </a:p>
        </p:txBody>
      </p:sp>
      <p:sp>
        <p:nvSpPr>
          <p:cNvPr id="5" name="Footer Placeholder 4">
            <a:extLst>
              <a:ext uri="{FF2B5EF4-FFF2-40B4-BE49-F238E27FC236}">
                <a16:creationId xmlns:a16="http://schemas.microsoft.com/office/drawing/2014/main" id="{A2A21375-582D-495E-6C21-B21B512D3D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8DBB5981-8775-B089-8C68-9DA336BFDC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030ACD-B58E-6447-A702-14FC5100BCC4}" type="slidenum">
              <a:rPr lang="en-AE" smtClean="0"/>
              <a:t>‹#›</a:t>
            </a:fld>
            <a:endParaRPr lang="en-AE"/>
          </a:p>
        </p:txBody>
      </p:sp>
    </p:spTree>
    <p:extLst>
      <p:ext uri="{BB962C8B-B14F-4D97-AF65-F5344CB8AC3E}">
        <p14:creationId xmlns:p14="http://schemas.microsoft.com/office/powerpoint/2010/main" val="3783052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notebook&#10;&#10;AI-generated content may be incorrect.">
            <a:extLst>
              <a:ext uri="{FF2B5EF4-FFF2-40B4-BE49-F238E27FC236}">
                <a16:creationId xmlns:a16="http://schemas.microsoft.com/office/drawing/2014/main" id="{041C3B36-C62C-B4FA-735C-D6E9C853DF23}"/>
              </a:ext>
            </a:extLst>
          </p:cNvPr>
          <p:cNvPicPr>
            <a:picLocks noChangeAspect="1"/>
          </p:cNvPicPr>
          <p:nvPr/>
        </p:nvPicPr>
        <p:blipFill>
          <a:blip r:embed="rId2"/>
          <a:stretch>
            <a:fillRect/>
          </a:stretch>
        </p:blipFill>
        <p:spPr>
          <a:xfrm>
            <a:off x="1864659" y="165100"/>
            <a:ext cx="10327341" cy="6527800"/>
          </a:xfrm>
          <a:prstGeom prst="rect">
            <a:avLst/>
          </a:prstGeom>
        </p:spPr>
      </p:pic>
    </p:spTree>
    <p:extLst>
      <p:ext uri="{BB962C8B-B14F-4D97-AF65-F5344CB8AC3E}">
        <p14:creationId xmlns:p14="http://schemas.microsoft.com/office/powerpoint/2010/main" val="3528462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book&#10;&#10;AI-generated content may be incorrect.">
            <a:extLst>
              <a:ext uri="{FF2B5EF4-FFF2-40B4-BE49-F238E27FC236}">
                <a16:creationId xmlns:a16="http://schemas.microsoft.com/office/drawing/2014/main" id="{0E7E9ED5-422A-7330-2B4A-ABE235F0C14F}"/>
              </a:ext>
            </a:extLst>
          </p:cNvPr>
          <p:cNvPicPr>
            <a:picLocks noGrp="1" noChangeAspect="1"/>
          </p:cNvPicPr>
          <p:nvPr>
            <p:ph idx="1"/>
          </p:nvPr>
        </p:nvPicPr>
        <p:blipFill>
          <a:blip r:embed="rId2"/>
          <a:stretch>
            <a:fillRect/>
          </a:stretch>
        </p:blipFill>
        <p:spPr>
          <a:xfrm>
            <a:off x="0" y="88936"/>
            <a:ext cx="12192000" cy="6769064"/>
          </a:xfrm>
        </p:spPr>
      </p:pic>
    </p:spTree>
    <p:extLst>
      <p:ext uri="{BB962C8B-B14F-4D97-AF65-F5344CB8AC3E}">
        <p14:creationId xmlns:p14="http://schemas.microsoft.com/office/powerpoint/2010/main" val="766808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book&#10;&#10;AI-generated content may be incorrect.">
            <a:extLst>
              <a:ext uri="{FF2B5EF4-FFF2-40B4-BE49-F238E27FC236}">
                <a16:creationId xmlns:a16="http://schemas.microsoft.com/office/drawing/2014/main" id="{F08BA3B3-B34A-A411-BF60-4BA1743E0733}"/>
              </a:ext>
            </a:extLst>
          </p:cNvPr>
          <p:cNvPicPr>
            <a:picLocks noChangeAspect="1"/>
          </p:cNvPicPr>
          <p:nvPr/>
        </p:nvPicPr>
        <p:blipFill>
          <a:blip r:embed="rId2"/>
          <a:stretch>
            <a:fillRect/>
          </a:stretch>
        </p:blipFill>
        <p:spPr>
          <a:xfrm>
            <a:off x="0" y="130628"/>
            <a:ext cx="12192000" cy="6574971"/>
          </a:xfrm>
          <a:prstGeom prst="rect">
            <a:avLst/>
          </a:prstGeom>
        </p:spPr>
      </p:pic>
    </p:spTree>
    <p:extLst>
      <p:ext uri="{BB962C8B-B14F-4D97-AF65-F5344CB8AC3E}">
        <p14:creationId xmlns:p14="http://schemas.microsoft.com/office/powerpoint/2010/main" val="2629210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brochure&#10;&#10;AI-generated content may be incorrect.">
            <a:extLst>
              <a:ext uri="{FF2B5EF4-FFF2-40B4-BE49-F238E27FC236}">
                <a16:creationId xmlns:a16="http://schemas.microsoft.com/office/drawing/2014/main" id="{7BC08EE3-103D-0A62-68FD-7EAD2D351CC9}"/>
              </a:ext>
            </a:extLst>
          </p:cNvPr>
          <p:cNvPicPr>
            <a:picLocks noChangeAspect="1"/>
          </p:cNvPicPr>
          <p:nvPr/>
        </p:nvPicPr>
        <p:blipFill>
          <a:blip r:embed="rId2"/>
          <a:stretch>
            <a:fillRect/>
          </a:stretch>
        </p:blipFill>
        <p:spPr>
          <a:xfrm>
            <a:off x="0" y="152400"/>
            <a:ext cx="12192000" cy="6705600"/>
          </a:xfrm>
          <a:prstGeom prst="rect">
            <a:avLst/>
          </a:prstGeom>
        </p:spPr>
      </p:pic>
    </p:spTree>
    <p:extLst>
      <p:ext uri="{BB962C8B-B14F-4D97-AF65-F5344CB8AC3E}">
        <p14:creationId xmlns:p14="http://schemas.microsoft.com/office/powerpoint/2010/main" val="1859470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age of a book&#10;&#10;AI-generated content may be incorrect.">
            <a:extLst>
              <a:ext uri="{FF2B5EF4-FFF2-40B4-BE49-F238E27FC236}">
                <a16:creationId xmlns:a16="http://schemas.microsoft.com/office/drawing/2014/main" id="{E5297F49-2F5E-1E77-AA1A-7B9FDD49B624}"/>
              </a:ext>
            </a:extLst>
          </p:cNvPr>
          <p:cNvPicPr>
            <a:picLocks noChangeAspect="1"/>
          </p:cNvPicPr>
          <p:nvPr/>
        </p:nvPicPr>
        <p:blipFill>
          <a:blip r:embed="rId2"/>
          <a:stretch>
            <a:fillRect/>
          </a:stretch>
        </p:blipFill>
        <p:spPr>
          <a:xfrm>
            <a:off x="0" y="152400"/>
            <a:ext cx="12192000" cy="6499412"/>
          </a:xfrm>
          <a:prstGeom prst="rect">
            <a:avLst/>
          </a:prstGeom>
        </p:spPr>
      </p:pic>
    </p:spTree>
    <p:extLst>
      <p:ext uri="{BB962C8B-B14F-4D97-AF65-F5344CB8AC3E}">
        <p14:creationId xmlns:p14="http://schemas.microsoft.com/office/powerpoint/2010/main" val="3109381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close-up of a white page&#10;&#10;AI-generated content may be incorrect.">
            <a:extLst>
              <a:ext uri="{FF2B5EF4-FFF2-40B4-BE49-F238E27FC236}">
                <a16:creationId xmlns:a16="http://schemas.microsoft.com/office/drawing/2014/main" id="{B2F22E2A-9706-E104-7FB2-3622150F7CF2}"/>
              </a:ext>
            </a:extLst>
          </p:cNvPr>
          <p:cNvPicPr>
            <a:picLocks noChangeAspect="1"/>
          </p:cNvPicPr>
          <p:nvPr/>
        </p:nvPicPr>
        <p:blipFill>
          <a:blip r:embed="rId2"/>
          <a:stretch>
            <a:fillRect/>
          </a:stretch>
        </p:blipFill>
        <p:spPr>
          <a:xfrm>
            <a:off x="6096000" y="252565"/>
            <a:ext cx="5979886" cy="5698292"/>
          </a:xfrm>
          <a:prstGeom prst="rect">
            <a:avLst/>
          </a:prstGeom>
        </p:spPr>
      </p:pic>
      <p:pic>
        <p:nvPicPr>
          <p:cNvPr id="6" name="Picture 5" descr="A close-up of a white background&#10;&#10;AI-generated content may be incorrect.">
            <a:extLst>
              <a:ext uri="{FF2B5EF4-FFF2-40B4-BE49-F238E27FC236}">
                <a16:creationId xmlns:a16="http://schemas.microsoft.com/office/drawing/2014/main" id="{A0446CCB-F12F-70BD-7E33-FD453CE068FD}"/>
              </a:ext>
            </a:extLst>
          </p:cNvPr>
          <p:cNvPicPr>
            <a:picLocks noChangeAspect="1"/>
          </p:cNvPicPr>
          <p:nvPr/>
        </p:nvPicPr>
        <p:blipFill>
          <a:blip r:embed="rId3"/>
          <a:stretch>
            <a:fillRect/>
          </a:stretch>
        </p:blipFill>
        <p:spPr>
          <a:xfrm>
            <a:off x="0" y="252565"/>
            <a:ext cx="5291667" cy="4078514"/>
          </a:xfrm>
          <a:prstGeom prst="rect">
            <a:avLst/>
          </a:prstGeom>
        </p:spPr>
      </p:pic>
    </p:spTree>
    <p:extLst>
      <p:ext uri="{BB962C8B-B14F-4D97-AF65-F5344CB8AC3E}">
        <p14:creationId xmlns:p14="http://schemas.microsoft.com/office/powerpoint/2010/main" val="1861430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book&#10;&#10;AI-generated content may be incorrect.">
            <a:extLst>
              <a:ext uri="{FF2B5EF4-FFF2-40B4-BE49-F238E27FC236}">
                <a16:creationId xmlns:a16="http://schemas.microsoft.com/office/drawing/2014/main" id="{A02EF4B3-48AE-0E1F-F37F-671AACF296AA}"/>
              </a:ext>
            </a:extLst>
          </p:cNvPr>
          <p:cNvPicPr>
            <a:picLocks noChangeAspect="1"/>
          </p:cNvPicPr>
          <p:nvPr/>
        </p:nvPicPr>
        <p:blipFill>
          <a:blip r:embed="rId2"/>
          <a:stretch>
            <a:fillRect/>
          </a:stretch>
        </p:blipFill>
        <p:spPr>
          <a:xfrm>
            <a:off x="0" y="152400"/>
            <a:ext cx="12192000" cy="6705600"/>
          </a:xfrm>
          <a:prstGeom prst="rect">
            <a:avLst/>
          </a:prstGeom>
        </p:spPr>
      </p:pic>
    </p:spTree>
    <p:extLst>
      <p:ext uri="{BB962C8B-B14F-4D97-AF65-F5344CB8AC3E}">
        <p14:creationId xmlns:p14="http://schemas.microsoft.com/office/powerpoint/2010/main" val="1239263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AF61E4-03C1-64B8-203C-DAAAA7C41C23}"/>
              </a:ext>
            </a:extLst>
          </p:cNvPr>
          <p:cNvSpPr txBox="1"/>
          <p:nvPr/>
        </p:nvSpPr>
        <p:spPr>
          <a:xfrm>
            <a:off x="419100" y="289679"/>
            <a:ext cx="11772900" cy="5509200"/>
          </a:xfrm>
          <a:prstGeom prst="rect">
            <a:avLst/>
          </a:prstGeom>
          <a:noFill/>
        </p:spPr>
        <p:txBody>
          <a:bodyPr wrap="square">
            <a:spAutoFit/>
          </a:bodyPr>
          <a:lstStyle/>
          <a:p>
            <a:pPr algn="r" rtl="1">
              <a:buNone/>
            </a:pPr>
            <a:r>
              <a:rPr lang="ar-AE" sz="3200" b="1" dirty="0"/>
              <a:t>1. </a:t>
            </a:r>
            <a:r>
              <a:rPr lang="ar-AE" sz="3200" b="1"/>
              <a:t>المدونة (</a:t>
            </a:r>
            <a:r>
              <a:rPr lang="en-US" sz="3200" b="1"/>
              <a:t>(Blog </a:t>
            </a:r>
          </a:p>
          <a:p>
            <a:pPr algn="r" rtl="1">
              <a:buNone/>
            </a:pPr>
            <a:r>
              <a:rPr lang="ar-AE" sz="3200"/>
              <a:t>هي </a:t>
            </a:r>
            <a:r>
              <a:rPr lang="ar-AE" sz="3200" dirty="0"/>
              <a:t>نص يُنشر على الإنترنت، يتسم بالطابع </a:t>
            </a:r>
            <a:r>
              <a:rPr lang="ar-AE" sz="3200" b="1" dirty="0"/>
              <a:t>الشخصي والتفاعلي</a:t>
            </a:r>
            <a:r>
              <a:rPr lang="ar-AE" sz="3200" dirty="0"/>
              <a:t>.</a:t>
            </a:r>
          </a:p>
          <a:p>
            <a:pPr algn="r" rtl="1">
              <a:buFont typeface="Arial" panose="020B0604020202020204" pitchFamily="34" charset="0"/>
              <a:buChar char="•"/>
            </a:pPr>
            <a:r>
              <a:rPr lang="ar-AE" sz="3200" b="1" dirty="0"/>
              <a:t>الهدف:</a:t>
            </a:r>
            <a:r>
              <a:rPr lang="ar-AE" sz="3200" dirty="0"/>
              <a:t> مشاركة تجارب شخصية، آراء، أو نصائح مع جمهور من المتابعين.</a:t>
            </a:r>
          </a:p>
          <a:p>
            <a:pPr algn="r" rtl="1">
              <a:buFont typeface="Arial" panose="020B0604020202020204" pitchFamily="34" charset="0"/>
              <a:buChar char="•"/>
            </a:pPr>
            <a:r>
              <a:rPr lang="ar-AE" sz="3200" b="1" dirty="0"/>
              <a:t>الجمهور:</a:t>
            </a:r>
            <a:r>
              <a:rPr lang="ar-AE" sz="3200" dirty="0"/>
              <a:t> المتابعون (</a:t>
            </a:r>
            <a:r>
              <a:rPr lang="en-US" sz="3200" dirty="0"/>
              <a:t>Followers) </a:t>
            </a:r>
            <a:r>
              <a:rPr lang="ar-AE" sz="3200" dirty="0"/>
              <a:t>أو القراء المهتمون بموضوع معين.</a:t>
            </a:r>
          </a:p>
          <a:p>
            <a:pPr algn="r" rtl="1">
              <a:buFont typeface="Arial" panose="020B0604020202020204" pitchFamily="34" charset="0"/>
              <a:buChar char="•"/>
            </a:pPr>
            <a:r>
              <a:rPr lang="ar-AE" sz="3200" b="1" dirty="0"/>
              <a:t>الأسلوب:</a:t>
            </a:r>
            <a:r>
              <a:rPr lang="ar-AE" sz="3200" dirty="0"/>
              <a:t> غير رسمي إلى شبه </a:t>
            </a:r>
            <a:r>
              <a:rPr lang="ar-AE" sz="3200"/>
              <a:t>رسمي (</a:t>
            </a:r>
            <a:r>
              <a:rPr lang="en-US" sz="3200"/>
              <a:t>(Informal </a:t>
            </a:r>
            <a:r>
              <a:rPr lang="en-US" sz="3200" dirty="0"/>
              <a:t>to Semi-formal)، </a:t>
            </a:r>
            <a:r>
              <a:rPr lang="ar-AE" sz="3200" dirty="0"/>
              <a:t>وغالباً ما يكون حماسياً ومباشراً.</a:t>
            </a:r>
          </a:p>
          <a:p>
            <a:pPr algn="r" rtl="1">
              <a:buFont typeface="Arial" panose="020B0604020202020204" pitchFamily="34" charset="0"/>
              <a:buChar char="•"/>
            </a:pPr>
            <a:r>
              <a:rPr lang="ar-AE" sz="3200" b="1" dirty="0"/>
              <a:t>العناصر الأساسية:</a:t>
            </a:r>
            <a:endParaRPr lang="ar-AE" sz="3200" dirty="0"/>
          </a:p>
          <a:p>
            <a:pPr marL="742950" lvl="1" indent="-285750" algn="r" rtl="1">
              <a:buFont typeface="Arial" panose="020B0604020202020204" pitchFamily="34" charset="0"/>
              <a:buChar char="•"/>
            </a:pPr>
            <a:r>
              <a:rPr lang="ar-AE" sz="3200" dirty="0"/>
              <a:t>عنوان جذاب للمدونة.</a:t>
            </a:r>
          </a:p>
          <a:p>
            <a:pPr marL="742950" lvl="1" indent="-285750" algn="r" rtl="1">
              <a:buFont typeface="Arial" panose="020B0604020202020204" pitchFamily="34" charset="0"/>
              <a:buChar char="•"/>
            </a:pPr>
            <a:r>
              <a:rPr lang="ar-AE" sz="3200" dirty="0"/>
              <a:t>اسم الكاتب وتاريخ النشر.</a:t>
            </a:r>
          </a:p>
          <a:p>
            <a:pPr marL="742950" lvl="1" indent="-285750" algn="r" rtl="1">
              <a:buFont typeface="Arial" panose="020B0604020202020204" pitchFamily="34" charset="0"/>
              <a:buChar char="•"/>
            </a:pPr>
            <a:r>
              <a:rPr lang="ar-AE" sz="3200" dirty="0"/>
              <a:t>استخدام ضمير المتكلم ("أنا"، "نحن").</a:t>
            </a:r>
          </a:p>
          <a:p>
            <a:pPr marL="742950" lvl="1" indent="-285750" algn="r" rtl="1">
              <a:buFont typeface="Arial" panose="020B0604020202020204" pitchFamily="34" charset="0"/>
              <a:buChar char="•"/>
            </a:pPr>
            <a:r>
              <a:rPr lang="ar-AE" sz="3200" dirty="0"/>
              <a:t>خاتمة تدعو للتفاعل (مثال: "ما رأيكم؟ شاركوني تعليقاتكم").</a:t>
            </a:r>
          </a:p>
        </p:txBody>
      </p:sp>
    </p:spTree>
    <p:extLst>
      <p:ext uri="{BB962C8B-B14F-4D97-AF65-F5344CB8AC3E}">
        <p14:creationId xmlns:p14="http://schemas.microsoft.com/office/powerpoint/2010/main" val="3848698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E7235D-1BEB-B9B0-AAB1-40A6B8C9FB48}"/>
              </a:ext>
            </a:extLst>
          </p:cNvPr>
          <p:cNvSpPr txBox="1"/>
          <p:nvPr/>
        </p:nvSpPr>
        <p:spPr>
          <a:xfrm>
            <a:off x="0" y="0"/>
            <a:ext cx="12192000" cy="5632311"/>
          </a:xfrm>
          <a:prstGeom prst="rect">
            <a:avLst/>
          </a:prstGeom>
          <a:solidFill>
            <a:schemeClr val="tx2">
              <a:lumMod val="25000"/>
              <a:lumOff val="75000"/>
            </a:schemeClr>
          </a:solidFill>
        </p:spPr>
        <p:txBody>
          <a:bodyPr wrap="square">
            <a:spAutoFit/>
          </a:bodyPr>
          <a:lstStyle/>
          <a:p>
            <a:pPr algn="r" rtl="1">
              <a:buNone/>
            </a:pPr>
            <a:r>
              <a:rPr lang="ar-AE" sz="3600" b="1" dirty="0"/>
              <a:t>العنوان: رحلتي من الكسل إلى الحيوية: كيف غيرت نمط حياتي؟</a:t>
            </a:r>
            <a:r>
              <a:rPr lang="ar-AE" sz="3600" dirty="0"/>
              <a:t> </a:t>
            </a:r>
            <a:r>
              <a:rPr lang="ar-AE" sz="3600" b="1" dirty="0"/>
              <a:t>بقلم: أحمد علي | 31 مارس 2026</a:t>
            </a:r>
            <a:endParaRPr lang="ar-AE" sz="3600" dirty="0"/>
          </a:p>
          <a:p>
            <a:pPr algn="r" rtl="1">
              <a:buNone/>
            </a:pPr>
            <a:r>
              <a:rPr lang="ar-AE" sz="3600" dirty="0"/>
              <a:t>أهلاً بكم يا أصدقائي في مدونتي! هل شعرت يوماً أن يومك يمر دون إنجاز؟ كنت مثلكم تماماً، أعتمد نمط الحياة "الخامل". أقضي ساعات خلف الشاشات، وهو ما أثر ليس فقط على صحتي، بل على هويتي وثقتي بنفسي.</a:t>
            </a:r>
          </a:p>
          <a:p>
            <a:pPr algn="r" rtl="1">
              <a:buNone/>
            </a:pPr>
            <a:r>
              <a:rPr lang="ar-AE" sz="3600" dirty="0"/>
              <a:t>قررت مؤخراً تجربة "نمط الحياة النشط". لم يكن الأمر سهلاً، لكن التأثير على رفاهيتي كان سحرياً! أصبحت أكثر تركيزاً وسعادة. أنماط الحياة ليست مجرد عادات، بل هي المرآة التي تعكس من نحن.</a:t>
            </a:r>
          </a:p>
          <a:p>
            <a:pPr algn="r" rtl="1">
              <a:buNone/>
            </a:pPr>
            <a:r>
              <a:rPr lang="ar-AE" sz="3600" b="1" dirty="0"/>
              <a:t>ماذا عنكم؟ هل تتبعون نمطاً معيناً تشعرون أنه يمثلكم؟ شاركوني تجاربكم في التعليقات أسفل التدوينة!</a:t>
            </a:r>
            <a:endParaRPr lang="ar-AE" sz="3600" dirty="0"/>
          </a:p>
        </p:txBody>
      </p:sp>
    </p:spTree>
    <p:extLst>
      <p:ext uri="{BB962C8B-B14F-4D97-AF65-F5344CB8AC3E}">
        <p14:creationId xmlns:p14="http://schemas.microsoft.com/office/powerpoint/2010/main" val="3747358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CE1891-697B-583C-5507-B8C8CA27C7FC}"/>
              </a:ext>
            </a:extLst>
          </p:cNvPr>
          <p:cNvSpPr txBox="1"/>
          <p:nvPr/>
        </p:nvSpPr>
        <p:spPr>
          <a:xfrm>
            <a:off x="0" y="334139"/>
            <a:ext cx="12192000" cy="4401205"/>
          </a:xfrm>
          <a:prstGeom prst="rect">
            <a:avLst/>
          </a:prstGeom>
          <a:noFill/>
        </p:spPr>
        <p:txBody>
          <a:bodyPr wrap="square">
            <a:spAutoFit/>
          </a:bodyPr>
          <a:lstStyle/>
          <a:p>
            <a:pPr algn="r" rtl="1">
              <a:buNone/>
            </a:pPr>
            <a:r>
              <a:rPr lang="ar-AE" sz="2800" b="1" dirty="0">
                <a:solidFill>
                  <a:srgbClr val="FF0000"/>
                </a:solidFill>
              </a:rPr>
              <a:t>2. النشرة (</a:t>
            </a:r>
            <a:r>
              <a:rPr lang="en-US" sz="2800" b="1" dirty="0">
                <a:solidFill>
                  <a:srgbClr val="FF0000"/>
                </a:solidFill>
              </a:rPr>
              <a:t>Brochure / Leaflet)</a:t>
            </a:r>
            <a:r>
              <a:rPr lang="ar-SA" sz="2800" b="1" dirty="0">
                <a:solidFill>
                  <a:srgbClr val="FF0000"/>
                </a:solidFill>
              </a:rPr>
              <a:t>)</a:t>
            </a:r>
            <a:endParaRPr lang="en-US" sz="2800" b="1" dirty="0">
              <a:solidFill>
                <a:srgbClr val="FF0000"/>
              </a:solidFill>
            </a:endParaRPr>
          </a:p>
          <a:p>
            <a:pPr algn="r" rtl="1">
              <a:buNone/>
            </a:pPr>
            <a:r>
              <a:rPr lang="ar-AE" sz="2800" dirty="0"/>
              <a:t>هي وثيقة </a:t>
            </a:r>
            <a:r>
              <a:rPr lang="ar-AE" sz="2800" b="1" dirty="0"/>
              <a:t>إعلامية أو إرشادية</a:t>
            </a:r>
            <a:r>
              <a:rPr lang="ar-AE" sz="2800" dirty="0"/>
              <a:t> تهدف لتوصيل معلومات محددة بشكل منظم وسريع.</a:t>
            </a:r>
          </a:p>
          <a:p>
            <a:pPr algn="r" rtl="1">
              <a:buFont typeface="Arial" panose="020B0604020202020204" pitchFamily="34" charset="0"/>
              <a:buChar char="•"/>
            </a:pPr>
            <a:r>
              <a:rPr lang="ar-AE" sz="2800" b="1" dirty="0"/>
              <a:t>الهدف:</a:t>
            </a:r>
            <a:r>
              <a:rPr lang="ar-AE" sz="2800" dirty="0"/>
              <a:t> التوعية، التثقيف، أو الإقناع باتباع نمط معين (مثل فوائد الرياضة).</a:t>
            </a:r>
          </a:p>
          <a:p>
            <a:pPr algn="r" rtl="1">
              <a:buFont typeface="Arial" panose="020B0604020202020204" pitchFamily="34" charset="0"/>
              <a:buChar char="•"/>
            </a:pPr>
            <a:r>
              <a:rPr lang="ar-AE" sz="2800" b="1" dirty="0"/>
              <a:t>الجمهور:</a:t>
            </a:r>
            <a:r>
              <a:rPr lang="ar-AE" sz="2800" dirty="0"/>
              <a:t> عامة الناس أو فئة مستهدفة محددة (طلاب، مرضى، سياح).</a:t>
            </a:r>
          </a:p>
          <a:p>
            <a:pPr algn="r" rtl="1">
              <a:buFont typeface="Arial" panose="020B0604020202020204" pitchFamily="34" charset="0"/>
              <a:buChar char="•"/>
            </a:pPr>
            <a:r>
              <a:rPr lang="ar-AE" sz="2800" b="1" dirty="0"/>
              <a:t>الأسلوب:</a:t>
            </a:r>
            <a:r>
              <a:rPr lang="ar-AE" sz="2800" dirty="0"/>
              <a:t> رسمي أو شبه رسمي، موضوعي، ومباشر جداً.</a:t>
            </a:r>
          </a:p>
          <a:p>
            <a:pPr algn="r" rtl="1">
              <a:buFont typeface="Arial" panose="020B0604020202020204" pitchFamily="34" charset="0"/>
              <a:buChar char="•"/>
            </a:pPr>
            <a:r>
              <a:rPr lang="ar-AE" sz="2800" b="1" dirty="0">
                <a:solidFill>
                  <a:srgbClr val="FF0000"/>
                </a:solidFill>
              </a:rPr>
              <a:t>العناصر الأساسية:</a:t>
            </a:r>
            <a:endParaRPr lang="ar-AE" sz="2800" dirty="0">
              <a:solidFill>
                <a:srgbClr val="FF0000"/>
              </a:solidFill>
            </a:endParaRPr>
          </a:p>
          <a:p>
            <a:pPr marL="742950" lvl="1" indent="-285750" algn="r" rtl="1">
              <a:buFont typeface="Arial" panose="020B0604020202020204" pitchFamily="34" charset="0"/>
              <a:buChar char="•"/>
            </a:pPr>
            <a:r>
              <a:rPr lang="ar-AE" sz="2800" dirty="0"/>
              <a:t>عنوان رئيسي بارز وواضح.</a:t>
            </a:r>
          </a:p>
          <a:p>
            <a:pPr marL="742950" lvl="1" indent="-285750" algn="r" rtl="1">
              <a:buFont typeface="Arial" panose="020B0604020202020204" pitchFamily="34" charset="0"/>
              <a:buChar char="•"/>
            </a:pPr>
            <a:r>
              <a:rPr lang="ar-AE" sz="2800" dirty="0"/>
              <a:t>عناوين فرعية (  </a:t>
            </a:r>
            <a:r>
              <a:rPr lang="en-US" sz="2800" dirty="0"/>
              <a:t>Subheadings) </a:t>
            </a:r>
            <a:r>
              <a:rPr lang="ar-SA" sz="2800" dirty="0"/>
              <a:t>) </a:t>
            </a:r>
            <a:r>
              <a:rPr lang="ar-AE" sz="2800" dirty="0"/>
              <a:t>لتقسيم المعلومات .</a:t>
            </a:r>
          </a:p>
          <a:p>
            <a:pPr marL="742950" lvl="1" indent="-285750" algn="r" rtl="1">
              <a:buFont typeface="Arial" panose="020B0604020202020204" pitchFamily="34" charset="0"/>
              <a:buChar char="•"/>
            </a:pPr>
            <a:r>
              <a:rPr lang="ar-AE" sz="2800" dirty="0"/>
              <a:t>نقاط مرقمة أو رصاصية (</a:t>
            </a:r>
            <a:r>
              <a:rPr lang="en-US" sz="2800" dirty="0"/>
              <a:t>Bullet points) </a:t>
            </a:r>
            <a:r>
              <a:rPr lang="ar-SA" sz="2800" dirty="0"/>
              <a:t>)</a:t>
            </a:r>
            <a:r>
              <a:rPr lang="ar-AE" sz="2800" dirty="0"/>
              <a:t>لتسهيل القراءة.</a:t>
            </a:r>
          </a:p>
          <a:p>
            <a:pPr marL="742950" lvl="1" indent="-285750" algn="r" rtl="1">
              <a:buFont typeface="Arial" panose="020B0604020202020204" pitchFamily="34" charset="0"/>
              <a:buChar char="•"/>
            </a:pPr>
            <a:r>
              <a:rPr lang="ar-AE" sz="2800" dirty="0"/>
              <a:t>نصائح أو "خاتمة تحفيزية" (مثال: "ابدأ اليوم لحياة أفضل").</a:t>
            </a:r>
          </a:p>
        </p:txBody>
      </p:sp>
    </p:spTree>
    <p:extLst>
      <p:ext uri="{BB962C8B-B14F-4D97-AF65-F5344CB8AC3E}">
        <p14:creationId xmlns:p14="http://schemas.microsoft.com/office/powerpoint/2010/main" val="2360883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7B2472-4835-D0F6-1CF2-8E348197373C}"/>
              </a:ext>
            </a:extLst>
          </p:cNvPr>
          <p:cNvSpPr txBox="1"/>
          <p:nvPr/>
        </p:nvSpPr>
        <p:spPr>
          <a:xfrm>
            <a:off x="0" y="0"/>
            <a:ext cx="12192000" cy="5878532"/>
          </a:xfrm>
          <a:prstGeom prst="rect">
            <a:avLst/>
          </a:prstGeom>
          <a:noFill/>
        </p:spPr>
        <p:txBody>
          <a:bodyPr wrap="square">
            <a:spAutoFit/>
          </a:bodyPr>
          <a:lstStyle/>
          <a:p>
            <a:pPr algn="ctr" rtl="1">
              <a:buNone/>
            </a:pPr>
            <a:r>
              <a:rPr lang="ar-AE" sz="2000" b="1" dirty="0"/>
              <a:t>[العنوان الرئيسي: دليلك نحو حياة متوازنة]</a:t>
            </a:r>
          </a:p>
          <a:p>
            <a:pPr algn="r" rtl="1">
              <a:buNone/>
            </a:pPr>
            <a:r>
              <a:rPr lang="ar-AE" sz="2000" b="1" dirty="0"/>
              <a:t>مقدمة:</a:t>
            </a:r>
          </a:p>
          <a:p>
            <a:pPr algn="r" rtl="1">
              <a:buNone/>
            </a:pPr>
            <a:r>
              <a:rPr lang="ar-AE" sz="2000" dirty="0"/>
              <a:t>نمط حياتك ليس مجرد روتين يومي، بل هو الانعكاس الحقيقي لهويتك والوقود الذي يحدد مستوى رفاهيتك النفسية والجسدية.</a:t>
            </a:r>
          </a:p>
          <a:p>
            <a:pPr algn="r" rtl="1">
              <a:buNone/>
            </a:pPr>
            <a:r>
              <a:rPr lang="ar-AE" sz="2000" b="1" dirty="0"/>
              <a:t>أشهر أنماط الحياة في عصرنا الحالي:</a:t>
            </a:r>
          </a:p>
          <a:p>
            <a:pPr algn="r" rtl="1">
              <a:buFont typeface="Arial" panose="020B0604020202020204" pitchFamily="34" charset="0"/>
              <a:buChar char="•"/>
            </a:pPr>
            <a:r>
              <a:rPr lang="ar-AE" sz="2000" b="1" dirty="0"/>
              <a:t>النمط النشط (</a:t>
            </a:r>
            <a:r>
              <a:rPr lang="en-US" sz="2000" b="1" dirty="0"/>
              <a:t>Active Lifestyle):</a:t>
            </a:r>
            <a:r>
              <a:rPr lang="en-US" sz="2000" dirty="0"/>
              <a:t> </a:t>
            </a:r>
            <a:r>
              <a:rPr lang="ar-AE" sz="2000" dirty="0"/>
              <a:t>يركز على الحركة الدائمة والرياضة، ويساهم في رفع هرمونات السعادة.</a:t>
            </a:r>
          </a:p>
          <a:p>
            <a:pPr algn="r" rtl="1">
              <a:buFont typeface="Arial" panose="020B0604020202020204" pitchFamily="34" charset="0"/>
              <a:buChar char="•"/>
            </a:pPr>
            <a:r>
              <a:rPr lang="ar-AE" sz="2000" b="1" dirty="0"/>
              <a:t>النمط البسيط (</a:t>
            </a:r>
            <a:r>
              <a:rPr lang="en-US" sz="2000" b="1" dirty="0"/>
              <a:t>Minimalism):</a:t>
            </a:r>
            <a:r>
              <a:rPr lang="en-US" sz="2000" dirty="0"/>
              <a:t> </a:t>
            </a:r>
            <a:r>
              <a:rPr lang="ar-AE" sz="2000" dirty="0"/>
              <a:t>يقوم على فلسفة "الأقل هو الأكثر"، حيث يتم التخلص من المشتتات المادية للتركيز على الهدوء النفسي.</a:t>
            </a:r>
          </a:p>
          <a:p>
            <a:pPr algn="r" rtl="1">
              <a:buFont typeface="Arial" panose="020B0604020202020204" pitchFamily="34" charset="0"/>
              <a:buChar char="•"/>
            </a:pPr>
            <a:r>
              <a:rPr lang="ar-AE" sz="2000" b="1" dirty="0"/>
              <a:t>النمط الرقمي (</a:t>
            </a:r>
            <a:r>
              <a:rPr lang="en-US" sz="2000" b="1" dirty="0"/>
              <a:t>Digital Lifestyle):</a:t>
            </a:r>
            <a:r>
              <a:rPr lang="en-US" sz="2000" dirty="0"/>
              <a:t> </a:t>
            </a:r>
            <a:r>
              <a:rPr lang="ar-AE" sz="2000" dirty="0"/>
              <a:t>يعتمد على التكنولوجيا في العمل والترفيه، ويتطلب حذراً لضمان عدم العزلة الاجتماعية.</a:t>
            </a:r>
          </a:p>
          <a:p>
            <a:pPr algn="r" rtl="1">
              <a:buFont typeface="Arial" panose="020B0604020202020204" pitchFamily="34" charset="0"/>
              <a:buChar char="•"/>
            </a:pPr>
            <a:endParaRPr lang="ar-AE" sz="2000" dirty="0"/>
          </a:p>
          <a:p>
            <a:pPr algn="r" rtl="1">
              <a:buNone/>
            </a:pPr>
            <a:r>
              <a:rPr lang="ar-AE" sz="2000" b="1" dirty="0"/>
              <a:t>كيف يؤثر أسلوب حياتك على رفاهيتك؟</a:t>
            </a:r>
          </a:p>
          <a:p>
            <a:pPr algn="r" rtl="1">
              <a:buFont typeface="+mj-lt"/>
              <a:buAutoNum type="arabicPeriod"/>
            </a:pPr>
            <a:r>
              <a:rPr lang="ar-AE" sz="2000" b="1" dirty="0"/>
              <a:t>الصحة البدنية:</a:t>
            </a:r>
            <a:r>
              <a:rPr lang="ar-AE" sz="2000" dirty="0"/>
              <a:t> النمط المتوازن يقلل من مخاطر الأمراض المزمنة.</a:t>
            </a:r>
          </a:p>
          <a:p>
            <a:pPr algn="r" rtl="1">
              <a:buFont typeface="+mj-lt"/>
              <a:buAutoNum type="arabicPeriod"/>
            </a:pPr>
            <a:r>
              <a:rPr lang="ar-AE" sz="2000" b="1" dirty="0"/>
              <a:t>الصحة النفسية:</a:t>
            </a:r>
            <a:r>
              <a:rPr lang="ar-AE" sz="2000" dirty="0"/>
              <a:t> ممارسة الهوايات والنشاط يقلل من مستويات التوتر والقلق.</a:t>
            </a:r>
          </a:p>
          <a:p>
            <a:pPr algn="r" rtl="1">
              <a:buFont typeface="+mj-lt"/>
              <a:buAutoNum type="arabicPeriod"/>
            </a:pPr>
            <a:r>
              <a:rPr lang="ar-AE" sz="2000" b="1" dirty="0"/>
              <a:t>بناء الهوية:</a:t>
            </a:r>
            <a:r>
              <a:rPr lang="ar-AE" sz="2000" dirty="0"/>
              <a:t> اختياراتك (مثل نوع الأكل أو طريقة قضاء وقت الفراغ) هي التي تعرّف الآخرين بشخصيتك وقيمك.</a:t>
            </a:r>
          </a:p>
          <a:p>
            <a:pPr algn="r" rtl="1">
              <a:buNone/>
            </a:pPr>
            <a:endParaRPr lang="ar-AE" sz="2000" dirty="0"/>
          </a:p>
          <a:p>
            <a:pPr algn="r" rtl="1">
              <a:buNone/>
            </a:pPr>
            <a:r>
              <a:rPr lang="ar-AE" sz="2000" b="1" dirty="0"/>
              <a:t>خطوات عملية للتغيير:</a:t>
            </a:r>
          </a:p>
          <a:p>
            <a:pPr algn="r" rtl="1">
              <a:buFont typeface="Arial" panose="020B0604020202020204" pitchFamily="34" charset="0"/>
              <a:buChar char="•"/>
            </a:pPr>
            <a:r>
              <a:rPr lang="ar-AE" sz="2000" b="1" dirty="0"/>
              <a:t>ابدأ صغيراً:</a:t>
            </a:r>
            <a:r>
              <a:rPr lang="ar-AE" sz="2000" dirty="0"/>
              <a:t> غير عادة واحدة كل أسبوع.</a:t>
            </a:r>
          </a:p>
          <a:p>
            <a:pPr algn="r" rtl="1">
              <a:buFont typeface="Arial" panose="020B0604020202020204" pitchFamily="34" charset="0"/>
              <a:buChar char="•"/>
            </a:pPr>
            <a:r>
              <a:rPr lang="ar-AE" sz="2000" b="1" dirty="0"/>
              <a:t>وازن اهتماماتك:</a:t>
            </a:r>
            <a:r>
              <a:rPr lang="ar-AE" sz="2000" dirty="0"/>
              <a:t> خصص وقتاً للعمل ووقتاً كافياً للراحة.</a:t>
            </a:r>
          </a:p>
          <a:p>
            <a:pPr algn="r" rtl="1">
              <a:buFont typeface="Arial" panose="020B0604020202020204" pitchFamily="34" charset="0"/>
              <a:buChar char="•"/>
            </a:pPr>
            <a:r>
              <a:rPr lang="ar-AE" sz="2000" b="1" dirty="0"/>
              <a:t>راقب تطورك:</a:t>
            </a:r>
            <a:r>
              <a:rPr lang="ar-AE" sz="2000" dirty="0"/>
              <a:t> دوّن كيف تشعر بعد كل تغيير إيجابي.</a:t>
            </a:r>
          </a:p>
          <a:p>
            <a:pPr algn="r" rtl="1">
              <a:buNone/>
            </a:pPr>
            <a:br>
              <a:rPr lang="ar-AE" dirty="0"/>
            </a:br>
            <a:endParaRPr lang="ar-AE" dirty="0"/>
          </a:p>
        </p:txBody>
      </p:sp>
    </p:spTree>
    <p:extLst>
      <p:ext uri="{BB962C8B-B14F-4D97-AF65-F5344CB8AC3E}">
        <p14:creationId xmlns:p14="http://schemas.microsoft.com/office/powerpoint/2010/main" val="2649846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887A4F52-2536-1493-0FED-1B83CABD01D0}"/>
              </a:ext>
            </a:extLst>
          </p:cNvPr>
          <p:cNvGraphicFramePr>
            <a:graphicFrameLocks noGrp="1"/>
          </p:cNvGraphicFramePr>
          <p:nvPr>
            <p:extLst>
              <p:ext uri="{D42A27DB-BD31-4B8C-83A1-F6EECF244321}">
                <p14:modId xmlns:p14="http://schemas.microsoft.com/office/powerpoint/2010/main" val="1720525148"/>
              </p:ext>
            </p:extLst>
          </p:nvPr>
        </p:nvGraphicFramePr>
        <p:xfrm>
          <a:off x="1331686" y="5212487"/>
          <a:ext cx="10515599" cy="579120"/>
        </p:xfrm>
        <a:graphic>
          <a:graphicData uri="http://schemas.openxmlformats.org/drawingml/2006/table">
            <a:tbl>
              <a:tblPr rtl="1"/>
              <a:tblGrid>
                <a:gridCol w="3624695">
                  <a:extLst>
                    <a:ext uri="{9D8B030D-6E8A-4147-A177-3AD203B41FA5}">
                      <a16:colId xmlns:a16="http://schemas.microsoft.com/office/drawing/2014/main" val="3489071618"/>
                    </a:ext>
                  </a:extLst>
                </a:gridCol>
                <a:gridCol w="3624695">
                  <a:extLst>
                    <a:ext uri="{9D8B030D-6E8A-4147-A177-3AD203B41FA5}">
                      <a16:colId xmlns:a16="http://schemas.microsoft.com/office/drawing/2014/main" val="2913624924"/>
                    </a:ext>
                  </a:extLst>
                </a:gridCol>
                <a:gridCol w="3266209">
                  <a:extLst>
                    <a:ext uri="{9D8B030D-6E8A-4147-A177-3AD203B41FA5}">
                      <a16:colId xmlns:a16="http://schemas.microsoft.com/office/drawing/2014/main" val="562471328"/>
                    </a:ext>
                  </a:extLst>
                </a:gridCol>
              </a:tblGrid>
              <a:tr h="0">
                <a:tc>
                  <a:txBody>
                    <a:bodyPr/>
                    <a:lstStyle/>
                    <a:p>
                      <a:pPr rtl="1">
                        <a:buNone/>
                      </a:pPr>
                      <a:r>
                        <a:rPr lang="ar-AE" b="1">
                          <a:solidFill>
                            <a:srgbClr val="1F1F1F"/>
                          </a:solidFill>
                          <a:effectLst/>
                          <a:latin typeface="Google Sans Text"/>
                        </a:rPr>
                        <a:t>مُدَوَّنَة</a:t>
                      </a:r>
                      <a:endParaRPr lang="ar-AE">
                        <a:solidFill>
                          <a:srgbClr val="1F1F1F"/>
                        </a:solidFill>
                        <a:effectLst/>
                        <a:latin typeface="Google Sans Text"/>
                      </a:endParaRPr>
                    </a:p>
                  </a:txBody>
                  <a:tcPr marL="114300"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buNone/>
                      </a:pPr>
                      <a:r>
                        <a:rPr lang="ar-AE" b="1">
                          <a:solidFill>
                            <a:srgbClr val="1F1F1F"/>
                          </a:solidFill>
                          <a:effectLst/>
                          <a:latin typeface="Google Sans Text"/>
                        </a:rPr>
                        <a:t>الرِّسَالَةُ الشَّخْصِيَّة</a:t>
                      </a:r>
                      <a:endParaRPr lang="ar-AE">
                        <a:solidFill>
                          <a:srgbClr val="1F1F1F"/>
                        </a:solidFill>
                        <a:effectLst/>
                        <a:latin typeface="Google Sans Text"/>
                      </a:endParaRPr>
                    </a:p>
                  </a:txBody>
                  <a:tcPr marL="114300"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buNone/>
                      </a:pPr>
                      <a:r>
                        <a:rPr lang="ar-AE" b="1" dirty="0">
                          <a:solidFill>
                            <a:srgbClr val="1F1F1F"/>
                          </a:solidFill>
                          <a:effectLst/>
                          <a:latin typeface="Google Sans Text"/>
                        </a:rPr>
                        <a:t>نَشْرَة</a:t>
                      </a:r>
                      <a:endParaRPr lang="ar-AE" dirty="0">
                        <a:solidFill>
                          <a:srgbClr val="1F1F1F"/>
                        </a:solidFill>
                        <a:effectLst/>
                        <a:latin typeface="Google Sans Text"/>
                      </a:endParaRPr>
                    </a:p>
                  </a:txBody>
                  <a:tcPr marT="152400" marB="152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9272984"/>
                  </a:ext>
                </a:extLst>
              </a:tr>
            </a:tbl>
          </a:graphicData>
        </a:graphic>
      </p:graphicFrame>
      <p:sp>
        <p:nvSpPr>
          <p:cNvPr id="10" name="Rectangle 7">
            <a:extLst>
              <a:ext uri="{FF2B5EF4-FFF2-40B4-BE49-F238E27FC236}">
                <a16:creationId xmlns:a16="http://schemas.microsoft.com/office/drawing/2014/main" id="{DFE8E7FD-CC57-CF4F-8193-C586051C18C1}"/>
              </a:ext>
            </a:extLst>
          </p:cNvPr>
          <p:cNvSpPr>
            <a:spLocks noChangeArrowheads="1"/>
          </p:cNvSpPr>
          <p:nvPr/>
        </p:nvSpPr>
        <p:spPr bwMode="auto">
          <a:xfrm>
            <a:off x="0" y="-263880"/>
            <a:ext cx="12061371" cy="4808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8241"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AE" altLang="en-AE" sz="4800" b="1" i="0" u="none" strike="noStrike" cap="none" normalizeH="0" baseline="0" dirty="0">
              <a:ln>
                <a:noFill/>
              </a:ln>
              <a:solidFill>
                <a:srgbClr val="1F1F1F"/>
              </a:solidFill>
              <a:effectLst/>
              <a:latin typeface="Google Sans Text"/>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AE" sz="4800" b="1" i="0" u="none" strike="noStrike" cap="none" normalizeH="0" baseline="0" dirty="0">
                <a:ln>
                  <a:noFill/>
                </a:ln>
                <a:solidFill>
                  <a:srgbClr val="1F1F1F"/>
                </a:solidFill>
                <a:effectLst/>
                <a:latin typeface="Google Sans Text"/>
                <a:cs typeface="Arial" panose="020B0604020202020204" pitchFamily="34" charset="0"/>
              </a:rPr>
              <a:t>نَمُوذَجُ سُؤَالِ كِتَابَةٍ عَلَى أَسَالِيبِ الحَيَاةِ</a:t>
            </a:r>
            <a:endParaRPr kumimoji="0" lang="ar-SA" altLang="en-AE" sz="4800"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AE" sz="4400" b="1" i="0" u="none" strike="noStrike" cap="none" normalizeH="0" baseline="0" dirty="0">
                <a:ln>
                  <a:noFill/>
                </a:ln>
                <a:solidFill>
                  <a:srgbClr val="1F1F1F"/>
                </a:solidFill>
                <a:effectLst/>
                <a:latin typeface="Google Sans Text"/>
                <a:cs typeface="Arial" panose="020B0604020202020204" pitchFamily="34" charset="0"/>
              </a:rPr>
              <a:t>خَامِسًا: الكِتَابَةُ</a:t>
            </a:r>
            <a:endParaRPr kumimoji="0" lang="ar-SA" altLang="en-AE" sz="6000" b="0"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AE" sz="2800" b="1" i="0" u="none" strike="noStrike" cap="none" normalizeH="0" baseline="0" dirty="0">
                <a:ln>
                  <a:noFill/>
                </a:ln>
                <a:solidFill>
                  <a:srgbClr val="1F1F1F"/>
                </a:solidFill>
                <a:effectLst/>
                <a:latin typeface="Google Sans Text"/>
                <a:cs typeface="Arial" panose="020B0604020202020204" pitchFamily="34" charset="0"/>
              </a:rPr>
              <a:t>SL</a:t>
            </a:r>
            <a:r>
              <a:rPr kumimoji="0" lang="ar-SA" altLang="en-AE" sz="2800" b="1" i="0" u="none" strike="noStrike" cap="none" normalizeH="0" baseline="0" dirty="0">
                <a:ln>
                  <a:noFill/>
                </a:ln>
                <a:solidFill>
                  <a:srgbClr val="1F1F1F"/>
                </a:solidFill>
                <a:effectLst/>
                <a:latin typeface="Google Sans Text"/>
                <a:cs typeface="Arial" panose="020B0604020202020204" pitchFamily="34" charset="0"/>
              </a:rPr>
              <a:t>:</a:t>
            </a:r>
            <a:r>
              <a:rPr kumimoji="0" lang="ar-SA" altLang="en-AE" sz="2800" b="0" i="0" u="none" strike="noStrike" cap="none" normalizeH="0" baseline="0" dirty="0">
                <a:ln>
                  <a:noFill/>
                </a:ln>
                <a:solidFill>
                  <a:srgbClr val="1F1F1F"/>
                </a:solidFill>
                <a:effectLst/>
                <a:latin typeface="Google Sans Text"/>
                <a:cs typeface="Arial" panose="020B0604020202020204" pitchFamily="34" charset="0"/>
              </a:rPr>
              <a:t> اكتُبُوا مِن 250 إِلَى 400 كَلِمَةٍ مُستَخدِمِينَ نَوعَ النَّصِ المُنَاسِبَ مِن الخِيَارَاتِ الوَارِدَةِ أَسفَلَ المَوضُوعَاتِ.</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AE" sz="2800" b="1" i="0" u="none" strike="noStrike" cap="none" normalizeH="0" baseline="0" dirty="0">
                <a:ln>
                  <a:noFill/>
                </a:ln>
                <a:solidFill>
                  <a:srgbClr val="1F1F1F"/>
                </a:solidFill>
                <a:effectLst/>
                <a:latin typeface="Google Sans Text"/>
                <a:cs typeface="Arial" panose="020B0604020202020204" pitchFamily="34" charset="0"/>
              </a:rPr>
              <a:t>HL</a:t>
            </a:r>
            <a:r>
              <a:rPr kumimoji="0" lang="ar-SA" altLang="en-AE" sz="2800" b="1" i="0" u="none" strike="noStrike" cap="none" normalizeH="0" baseline="0" dirty="0">
                <a:ln>
                  <a:noFill/>
                </a:ln>
                <a:solidFill>
                  <a:srgbClr val="1F1F1F"/>
                </a:solidFill>
                <a:effectLst/>
                <a:latin typeface="Google Sans Text"/>
                <a:cs typeface="Arial" panose="020B0604020202020204" pitchFamily="34" charset="0"/>
              </a:rPr>
              <a:t>:</a:t>
            </a:r>
            <a:r>
              <a:rPr kumimoji="0" lang="ar-SA" altLang="en-AE" sz="2800" b="0" i="0" u="none" strike="noStrike" cap="none" normalizeH="0" baseline="0" dirty="0">
                <a:ln>
                  <a:noFill/>
                </a:ln>
                <a:solidFill>
                  <a:srgbClr val="1F1F1F"/>
                </a:solidFill>
                <a:effectLst/>
                <a:latin typeface="Google Sans Text"/>
                <a:cs typeface="Arial" panose="020B0604020202020204" pitchFamily="34" charset="0"/>
              </a:rPr>
              <a:t> اكتُبُوا مِن 450 إِلَى 600 كَلِمَةٍ مُستَخدِمِينَ نَوعَ النَّصِ المُنَاسِبَ مِن الخِيَارَاتِ الوَارِدَةِ أَسفَلَ المَوضُوعَاتِ.</a:t>
            </a: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AE" sz="2800" b="0" i="0" u="none" strike="noStrike" cap="none" normalizeH="0" baseline="0" dirty="0">
                <a:ln>
                  <a:noFill/>
                </a:ln>
                <a:solidFill>
                  <a:srgbClr val="1F1F1F"/>
                </a:solidFill>
                <a:effectLst/>
                <a:latin typeface="Google Sans Text"/>
                <a:cs typeface="Arial" panose="020B0604020202020204" pitchFamily="34" charset="0"/>
              </a:rPr>
              <a:t>نَمَطُ الحَيَاةِ يَختَلِفُ مِن فَردٍ إِلَى آخَرَ. اكتُب نَصًّا لِمُتَابِعِيكَ تُوَضِّحُ فِيهِ أَشهَرَ أَنْمَاطِ وَأَنْوَاعِ أَسَالِيبِ الحَيَاةِ، وَتَأثِيرَهَا عَلَى الرَّفَاهِيَةِ الفَردِيَّةِ، وَالهُوِيَّةِ الخَاصَّةِ وَكَيفَ تُشَكِّلُ أُسلُوبَ حَيَاةِ الأَشخَاصِ.</a:t>
            </a:r>
            <a:endParaRPr kumimoji="0" lang="ar-SA" altLang="en-AE" sz="2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2330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6102</TotalTime>
  <Words>596</Words>
  <Application>Microsoft Macintosh PowerPoint</Application>
  <PresentationFormat>Widescreen</PresentationFormat>
  <Paragraphs>51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Elsawaf</dc:creator>
  <cp:lastModifiedBy>Ahmed Elsawaf</cp:lastModifiedBy>
  <cp:revision>6</cp:revision>
  <dcterms:created xsi:type="dcterms:W3CDTF">2026-02-05T08:50:14Z</dcterms:created>
  <dcterms:modified xsi:type="dcterms:W3CDTF">2026-09-16T07:26:42Z</dcterms:modified>
</cp:coreProperties>
</file>